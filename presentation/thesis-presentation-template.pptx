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12.jpeg" ContentType="image/jpeg"/>
  <Override PartName="/ppt/media/image8.png" ContentType="image/png"/>
  <Override PartName="/ppt/media/image9.png" ContentType="image/png"/>
  <Override PartName="/ppt/media/image1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9144000" cy="6858000"/>
  <p:notesSz cx="6858000" cy="99472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6B453F-A254-4A9E-97F0-919BA4FC81B6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942840" y="746280"/>
            <a:ext cx="4971600" cy="37303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987840" y="4725000"/>
            <a:ext cx="4907880" cy="447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1"/>
          </p:nvPr>
        </p:nvSpPr>
        <p:spPr>
          <a:xfrm>
            <a:off x="6022800" y="9450000"/>
            <a:ext cx="834840" cy="49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7F825C-E324-4161-819F-0FDC86D0375C}" type="slidenum">
              <a:rPr b="0" lang="en-GB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CFC1E7-D024-475D-8DFF-7311C9EF145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90D554-5490-44C8-93F0-C0C078FD0F7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6CFC8-3C66-4107-B9F6-EF67984CFAF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CDFFE6B-08DF-48EA-A941-4C3F259FE1E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7F36A5-B5B5-48D1-A031-DEB2B36FDAA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500600" cy="5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4832D0-A880-46FF-9AEA-4B449E6B8CC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Content 20p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0F9874B-13F0-49C2-9C3B-3B8EED32ED3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pic>
        <p:nvPicPr>
          <p:cNvPr id="2" name="Picture 3" descr=""/>
          <p:cNvPicPr/>
          <p:nvPr/>
        </p:nvPicPr>
        <p:blipFill>
          <a:blip r:embed="rId2"/>
          <a:srcRect l="970" t="3972" r="3960" b="557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500600" cy="5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Calibri"/>
              </a:rPr>
              <a:t>Click to edit Master title style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4" name="Picture 4" descr=""/>
          <p:cNvPicPr/>
          <p:nvPr/>
        </p:nvPicPr>
        <p:blipFill>
          <a:blip r:embed="rId3"/>
          <a:stretch/>
        </p:blipFill>
        <p:spPr>
          <a:xfrm>
            <a:off x="828720" y="525960"/>
            <a:ext cx="3020040" cy="8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28720" y="5481720"/>
            <a:ext cx="4678920" cy="9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Calibri"/>
              </a:rPr>
              <a:t>Second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8953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16856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14335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1"/>
          </p:nvPr>
        </p:nvSpPr>
        <p:spPr>
          <a:xfrm>
            <a:off x="7086600" y="61336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2C404B-C9FC-4FEF-882A-F390D87A6BDE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3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14" name="Rectangle 4"/>
          <p:cNvSpPr/>
          <p:nvPr/>
        </p:nvSpPr>
        <p:spPr>
          <a:xfrm>
            <a:off x="0" y="5819760"/>
            <a:ext cx="9143640" cy="10364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endParaRPr b="0" lang="en-GB" sz="10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5" name="Picture 9" descr=""/>
          <p:cNvPicPr/>
          <p:nvPr/>
        </p:nvPicPr>
        <p:blipFill>
          <a:blip r:embed="rId2"/>
          <a:stretch/>
        </p:blipFill>
        <p:spPr>
          <a:xfrm>
            <a:off x="824040" y="6046200"/>
            <a:ext cx="2059920" cy="55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8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8953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16856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14335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2"/>
          </p:nvPr>
        </p:nvSpPr>
        <p:spPr>
          <a:xfrm>
            <a:off x="7086600" y="544536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D9D23-6385-4FA0-A0F9-6C84358C8463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2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23" name="Rectangle 4"/>
          <p:cNvSpPr/>
          <p:nvPr/>
        </p:nvSpPr>
        <p:spPr>
          <a:xfrm>
            <a:off x="0" y="5819760"/>
            <a:ext cx="9143640" cy="10364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endParaRPr b="0" lang="en-GB" sz="10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24" name="Picture 9" descr=""/>
          <p:cNvPicPr/>
          <p:nvPr/>
        </p:nvPicPr>
        <p:blipFill>
          <a:blip r:embed="rId2"/>
          <a:stretch/>
        </p:blipFill>
        <p:spPr>
          <a:xfrm>
            <a:off x="824040" y="6046200"/>
            <a:ext cx="2059920" cy="55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28720" y="1881000"/>
            <a:ext cx="3933360" cy="316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76120" indent="-276120" defTabSz="914400">
              <a:lnSpc>
                <a:spcPct val="100000"/>
              </a:lnSpc>
              <a:spcBef>
                <a:spcPts val="901"/>
              </a:spcBef>
              <a:buClr>
                <a:srgbClr val="3e6db2"/>
              </a:buClr>
              <a:buFont typeface="Arial"/>
              <a:buChar char="‒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25320" indent="-2332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912960" indent="-22212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128600" indent="-19044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1440000" indent="-18576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28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915080" y="1881000"/>
            <a:ext cx="3934440" cy="316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76120" indent="-276120" defTabSz="914400">
              <a:lnSpc>
                <a:spcPct val="100000"/>
              </a:lnSpc>
              <a:spcBef>
                <a:spcPts val="901"/>
              </a:spcBef>
              <a:buClr>
                <a:srgbClr val="3e6db2"/>
              </a:buClr>
              <a:buFont typeface="Arial"/>
              <a:buChar char="‒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25320" indent="-2332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912960" indent="-22212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128600" indent="-19044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1440000" indent="-18576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3"/>
          </p:nvPr>
        </p:nvSpPr>
        <p:spPr>
          <a:xfrm>
            <a:off x="7086600" y="54550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507BE-EBD2-481D-BF06-B655902BD54A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2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4939200" y="1438200"/>
            <a:ext cx="4204440" cy="47358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GB" sz="1600" strike="noStrike" u="none">
                <a:solidFill>
                  <a:schemeClr val="accent3"/>
                </a:solidFill>
                <a:uFillTx/>
                <a:latin typeface="Calibri"/>
              </a:rPr>
              <a:t>IMAGE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28720" y="1905120"/>
            <a:ext cx="3819240" cy="398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37960" indent="-237960" defTabSz="914400">
              <a:lnSpc>
                <a:spcPct val="100000"/>
              </a:lnSpc>
              <a:spcBef>
                <a:spcPts val="850"/>
              </a:spcBef>
              <a:buClr>
                <a:srgbClr val="3e6db2"/>
              </a:buClr>
              <a:buFont typeface="Calibri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503280" indent="-208080" defTabSz="914400">
              <a:lnSpc>
                <a:spcPct val="100000"/>
              </a:lnSpc>
              <a:spcAft>
                <a:spcPts val="567"/>
              </a:spcAft>
              <a:buClr>
                <a:srgbClr val="3e6db2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Rectangle 7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8" name="Straight Connector 6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39" name="PlaceHolder 5"/>
          <p:cNvSpPr>
            <a:spLocks noGrp="1"/>
          </p:cNvSpPr>
          <p:nvPr>
            <p:ph type="sldNum" idx="4"/>
          </p:nvPr>
        </p:nvSpPr>
        <p:spPr>
          <a:xfrm>
            <a:off x="7086600" y="61336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F9A00D-92E3-4B3C-A10C-0F967B5A0E4D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1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1438200"/>
            <a:ext cx="9143640" cy="47077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0000" rIns="90000" tIns="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GB" sz="1600" strike="noStrike" u="none">
                <a:solidFill>
                  <a:schemeClr val="accent3"/>
                </a:solidFill>
                <a:uFillTx/>
                <a:latin typeface="Calibri"/>
              </a:rPr>
              <a:t>IMAGE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466680"/>
            <a:ext cx="9143640" cy="39096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6" name="Straight Connector 6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47" name="PlaceHolder 4"/>
          <p:cNvSpPr>
            <a:spLocks noGrp="1"/>
          </p:cNvSpPr>
          <p:nvPr>
            <p:ph type="sldNum" idx="5"/>
          </p:nvPr>
        </p:nvSpPr>
        <p:spPr>
          <a:xfrm>
            <a:off x="7086600" y="61336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EDA31A-D589-4823-872D-0B96819531D9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0" hidden="1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9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pic>
        <p:nvPicPr>
          <p:cNvPr id="50" name="Picture 5" descr=""/>
          <p:cNvPicPr/>
          <p:nvPr/>
        </p:nvPicPr>
        <p:blipFill>
          <a:blip r:embed="rId2"/>
          <a:srcRect l="970" t="3972" r="3960" b="557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9" descr=""/>
          <p:cNvPicPr/>
          <p:nvPr/>
        </p:nvPicPr>
        <p:blipFill>
          <a:blip r:embed="rId3"/>
          <a:stretch/>
        </p:blipFill>
        <p:spPr>
          <a:xfrm>
            <a:off x="828720" y="525960"/>
            <a:ext cx="3020040" cy="8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500600" cy="5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200" strike="noStrike" u="none">
                <a:solidFill>
                  <a:schemeClr val="lt1"/>
                </a:solidFill>
                <a:uFillTx/>
                <a:latin typeface="Calibri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0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5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6"/>
          </p:nvPr>
        </p:nvSpPr>
        <p:spPr>
          <a:xfrm>
            <a:off x="7086600" y="61336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588AB-39F7-4C51-853B-CDA63F36F26B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0"/>
          <p:cNvSpPr/>
          <p:nvPr/>
        </p:nvSpPr>
        <p:spPr>
          <a:xfrm>
            <a:off x="0" y="6498000"/>
            <a:ext cx="9143640" cy="35964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0" name="Straight Connector 5"/>
          <p:cNvCxnSpPr/>
          <p:nvPr/>
        </p:nvCxnSpPr>
        <p:spPr>
          <a:xfrm>
            <a:off x="0" y="1438200"/>
            <a:ext cx="9144360" cy="360"/>
          </a:xfrm>
          <a:prstGeom prst="straightConnector1">
            <a:avLst/>
          </a:prstGeom>
          <a:ln>
            <a:solidFill>
              <a:srgbClr val="0e73b9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8953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16856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143352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7"/>
          </p:nvPr>
        </p:nvSpPr>
        <p:spPr>
          <a:xfrm>
            <a:off x="7086600" y="613368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8BB031-D618-40FE-AC19-5997C1DBF59E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500600" cy="5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Calibri"/>
              </a:rPr>
              <a:t>Investigating the Application of a Recommender System for Irish College Courses</a:t>
            </a:r>
            <a:endParaRPr b="1" lang="en-US" sz="26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828720" y="4289400"/>
            <a:ext cx="7500600" cy="3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i="1" lang="en-US" sz="2000" strike="noStrike" u="none">
                <a:solidFill>
                  <a:schemeClr val="lt1"/>
                </a:solidFill>
                <a:uFillTx/>
                <a:latin typeface="Calibri"/>
              </a:rPr>
              <a:t>Masters Thesis Presentation</a:t>
            </a:r>
            <a:endParaRPr b="0" i="1" lang="en-US" sz="20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828720" y="5481720"/>
            <a:ext cx="4678920" cy="97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Principal Investigator: </a:t>
            </a:r>
            <a:r>
              <a:rPr b="1" lang="en-GB" sz="1400" strike="noStrike" u="none">
                <a:solidFill>
                  <a:schemeClr val="lt1"/>
                </a:solidFill>
                <a:uFillTx/>
                <a:latin typeface="Calibri"/>
              </a:rPr>
              <a:t>Brendan McCann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Supervised by: </a:t>
            </a:r>
            <a:r>
              <a:rPr b="1" lang="en-GB" sz="1400" strike="noStrike" u="none">
                <a:solidFill>
                  <a:schemeClr val="lt1"/>
                </a:solidFill>
                <a:uFillTx/>
                <a:latin typeface="Calibri"/>
              </a:rPr>
              <a:t>Prof Owen Conlan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Date 25/03/2026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Motivation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2024: 79% of Irish students entered college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What college course should I study?”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Difficult to answer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2018: 31% Irish graduates: “not likely” to study their course again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Many influences/reasons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Research question: 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“How can a Recommender System assist an Irish student in their college course decision-making process”?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B87682-F380-46F2-B9EC-A833235B780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Background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Holland’s </a:t>
            </a:r>
            <a:r>
              <a:rPr b="0" i="1" lang="en-GB" sz="2400" strike="noStrike" u="none">
                <a:solidFill>
                  <a:schemeClr val="dk1"/>
                </a:solidFill>
                <a:uFillTx/>
                <a:latin typeface="Calibri"/>
              </a:rPr>
              <a:t>RIASEC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Model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Most studied career theory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What college course should people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0" defTabSz="914400">
              <a:spcBef>
                <a:spcPts val="1417"/>
              </a:spcBef>
              <a:buNone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study?”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Academic Interests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Salary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Meaning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0" defTabSz="914400"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5029200" y="2537280"/>
            <a:ext cx="3634920" cy="363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5AE6985-9673-4FC9-930A-8B0A1ADD7B9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Related Work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85800" y="487548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How do we make </a:t>
            </a: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personalised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college course recommendations?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Research Gap: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RIASEC + Academic Interests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7429320" cy="321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018A3B5-6BFE-43F9-9C0C-1AE48E81D6D2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Design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57600" y="16002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What information do we profile off a user?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student’s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RIASEC Model + LC Points + Academic Interests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4446360" y="3429000"/>
            <a:ext cx="424044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0" y="3429000"/>
            <a:ext cx="4592160" cy="29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752E61-C23D-412E-9F31-0391A3A873E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85800" y="144648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21 “Academic Interest” categories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Quiz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89" name=""/>
          <p:cNvGraphicFramePr/>
          <p:nvPr/>
        </p:nvGraphicFramePr>
        <p:xfrm>
          <a:off x="6399720" y="1627560"/>
          <a:ext cx="2371320" cy="2187720"/>
        </p:xfrm>
        <a:graphic>
          <a:graphicData uri="http://schemas.openxmlformats.org/drawingml/2006/table">
            <a:tbl>
              <a:tblPr/>
              <a:tblGrid>
                <a:gridCol w="237168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Academic Interests</a:t>
                      </a:r>
                      <a:endParaRPr b="1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Agriculture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...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Computers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Healthcare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...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indent="0">
                        <a:buNone/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Welfare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600120" y="2514600"/>
            <a:ext cx="4429080" cy="140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Placeholder 1"/>
          <p:cNvSpPr txBox="1"/>
          <p:nvPr/>
        </p:nvSpPr>
        <p:spPr>
          <a:xfrm>
            <a:off x="685800" y="43434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Investigative”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RIASEC Quality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Computers”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Academic Interest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A58FC92-9EA0-4EB3-BDEE-5EA6F8DF33E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4" name="Text Placeholder 9"/>
          <p:cNvSpPr txBox="1"/>
          <p:nvPr/>
        </p:nvSpPr>
        <p:spPr>
          <a:xfrm>
            <a:off x="729000" y="18288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Every user is a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2</a:t>
            </a:r>
            <a:r>
              <a:rPr b="1" lang="en-US" sz="2200" strike="noStrike" u="none">
                <a:solidFill>
                  <a:schemeClr val="dk1"/>
                </a:solidFill>
                <a:uFillTx/>
                <a:latin typeface="Calibri"/>
              </a:rPr>
              <a:t>8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-dimensional vector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Values normalized between 0.0 and 1.0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2057400" y="3200400"/>
            <a:ext cx="5146200" cy="260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6640F5D-3398-47F3-B960-93E9EA5AAE7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8720" y="144648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Noto Sans CJK SC"/>
              </a:rPr>
              <a:t>Every college course is also a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2</a:t>
            </a:r>
            <a:r>
              <a:rPr b="1" lang="en-US" sz="2200" strike="noStrike" u="none">
                <a:solidFill>
                  <a:schemeClr val="dk1"/>
                </a:solidFill>
                <a:uFillTx/>
                <a:latin typeface="Calibri"/>
              </a:rPr>
              <a:t>8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-dimensional vector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57200" y="1892520"/>
            <a:ext cx="4216680" cy="336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3256920" y="3886200"/>
            <a:ext cx="565848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714285-0555-4C1E-97F1-22E3DC457CFE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rcRect l="0" t="0" r="35996" b="0"/>
          <a:stretch/>
        </p:blipFill>
        <p:spPr>
          <a:xfrm>
            <a:off x="4800600" y="1600200"/>
            <a:ext cx="4114800" cy="161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3" name="Text Placeholder 8"/>
          <p:cNvSpPr txBox="1"/>
          <p:nvPr/>
        </p:nvSpPr>
        <p:spPr>
          <a:xfrm>
            <a:off x="729000" y="32004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similarityScore = cosineSimilarity(user, collegeCourse)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228600" y="1893600"/>
            <a:ext cx="4572000" cy="107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2971080" y="3657600"/>
            <a:ext cx="3429720" cy="22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Placeholder 11"/>
          <p:cNvSpPr txBox="1"/>
          <p:nvPr/>
        </p:nvSpPr>
        <p:spPr>
          <a:xfrm>
            <a:off x="729360" y="5715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Return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Top 20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matches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EC11E14-0969-4344-BF53-DECB81B80A8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Demo of Project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7AB2753-44C7-45CB-88F9-2132975DE36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Evaluation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Diagrams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Resolution of diagrams should be adequate i.e. lines should not be blurred, fonts should be easily readable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Axes on graphs should have names and units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31800" indent="-343080" defTabSz="914400">
              <a:lnSpc>
                <a:spcPct val="100000"/>
              </a:lnSpc>
              <a:spcBef>
                <a:spcPts val="1134"/>
              </a:spcBef>
              <a:buClr>
                <a:srgbClr val="3e6db2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Graphs should have legends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spcBef>
                <a:spcPts val="1417"/>
              </a:spcBef>
              <a:buNone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Owen: data should result in </a:t>
            </a:r>
            <a:r>
              <a:rPr b="1" lang="en-GB" sz="2000" strike="noStrike" u="none">
                <a:solidFill>
                  <a:schemeClr val="dk1"/>
                </a:solidFill>
                <a:uFillTx/>
                <a:latin typeface="Calibri"/>
              </a:rPr>
              <a:t>findings –</a:t>
            </a: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 link this back to RQ!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134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C7D92A-F88B-44CC-B6E3-C315B6E51FC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50060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Conclusions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500600" cy="40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Lessons learnt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Reflection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5006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29B493-2592-4276-9B8D-2C8539E5E15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28720" y="3131640"/>
            <a:ext cx="7500600" cy="64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GB" sz="5400" strike="noStrike" u="none">
                <a:solidFill>
                  <a:schemeClr val="lt1"/>
                </a:solidFill>
                <a:uFillTx/>
                <a:latin typeface="Calibri"/>
              </a:rPr>
              <a:t>Questions ?</a:t>
            </a:r>
            <a:endParaRPr b="0" lang="en-US" sz="5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500600" cy="5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GB" sz="4200" strike="noStrike" u="none">
                <a:solidFill>
                  <a:schemeClr val="lt1"/>
                </a:solidFill>
                <a:uFillTx/>
                <a:latin typeface="Calibri"/>
              </a:rPr>
              <a:t>Thank You</a:t>
            </a:r>
            <a:endParaRPr b="0" lang="en-US" sz="4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Trinity_PPT_Calibri_Option1</Template>
  <TotalTime>61</TotalTime>
  <Application>LibreOffice/24.8.4.2$Linux_X86_64 LibreOffice_project/bb3cfa12c7b1bf994ecc5649a80400d06cd71002</Application>
  <AppVersion>15.0000</AppVersion>
  <Words>157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2015-04-21T16:55:16Z</dcterms:created>
  <dc:creator>Administrator</dc:creator>
  <dc:description/>
  <dc:language>en-US</dc:language>
  <cp:lastModifiedBy/>
  <cp:lastPrinted>2014-12-16T10:33:11Z</cp:lastPrinted>
  <dcterms:modified xsi:type="dcterms:W3CDTF">2026-03-14T23:04:56Z</dcterms:modified>
  <cp:revision>10</cp:revision>
  <dc:subject/>
  <dc:title>Title — Calibri Bold 26pt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(4:3)</vt:lpwstr>
  </property>
  <property fmtid="{D5CDD505-2E9C-101B-9397-08002B2CF9AE}" pid="4" name="Slides">
    <vt:i4>13</vt:i4>
  </property>
</Properties>
</file>