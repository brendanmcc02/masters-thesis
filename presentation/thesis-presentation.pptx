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1.jpeg" ContentType="image/jpeg"/>
  <Override PartName="/ppt/media/image9.png" ContentType="image/png"/>
  <Override PartName="/ppt/media/image2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/>
  <p:notesSz cx="6858000" cy="99472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56D74DB-4CF5-41E9-9F75-A37B0D7A581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942840" y="746280"/>
            <a:ext cx="4970880" cy="372960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987840" y="4725000"/>
            <a:ext cx="4907160" cy="447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6"/>
          </p:nvPr>
        </p:nvSpPr>
        <p:spPr>
          <a:xfrm>
            <a:off x="6022800" y="9450000"/>
            <a:ext cx="83412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B6EEB9-4A99-49C7-AFDD-6042F6C198C3}" type="slidenum">
              <a:rPr b="0" lang="en-GB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Content 2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0FA5711-EA3F-41BC-99F7-3B7E8F0BE9E1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&amp; Content 20p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7E613C-53F8-4D76-A23C-486EFA9C2BE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&amp; Content 20p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5F27C5-0FE8-47A2-9DFE-0C5CC606F99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10" hidden="1"/>
          <p:cNvSpPr/>
          <p:nvPr/>
        </p:nvSpPr>
        <p:spPr>
          <a:xfrm>
            <a:off x="0" y="6498000"/>
            <a:ext cx="9142920" cy="358920"/>
          </a:xfrm>
          <a:prstGeom prst="rect">
            <a:avLst/>
          </a:prstGeom>
          <a:solidFill>
            <a:srgbClr val="0e73b9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" name="Straight Connector 5"/>
          <p:cNvCxnSpPr/>
          <p:nvPr/>
        </p:nvCxnSpPr>
        <p:spPr>
          <a:xfrm>
            <a:off x="0" y="1438200"/>
            <a:ext cx="9145080" cy="1080"/>
          </a:xfrm>
          <a:prstGeom prst="straightConnector1">
            <a:avLst/>
          </a:prstGeom>
          <a:ln w="0">
            <a:solidFill>
              <a:srgbClr val="0e73b9"/>
            </a:solidFill>
          </a:ln>
        </p:spPr>
      </p:cxnSp>
      <p:pic>
        <p:nvPicPr>
          <p:cNvPr id="2" name="Picture 3" descr=""/>
          <p:cNvPicPr/>
          <p:nvPr/>
        </p:nvPicPr>
        <p:blipFill>
          <a:blip r:embed="rId2"/>
          <a:srcRect l="970" t="3972" r="3960" b="557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4" descr=""/>
          <p:cNvPicPr/>
          <p:nvPr/>
        </p:nvPicPr>
        <p:blipFill>
          <a:blip r:embed="rId3"/>
          <a:stretch/>
        </p:blipFill>
        <p:spPr>
          <a:xfrm>
            <a:off x="828720" y="525960"/>
            <a:ext cx="301932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/>
          <p:cNvSpPr/>
          <p:nvPr/>
        </p:nvSpPr>
        <p:spPr>
          <a:xfrm>
            <a:off x="0" y="6498000"/>
            <a:ext cx="9142920" cy="358920"/>
          </a:xfrm>
          <a:prstGeom prst="rect">
            <a:avLst/>
          </a:prstGeom>
          <a:solidFill>
            <a:srgbClr val="0e73b9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9" name="Straight Connector 5"/>
          <p:cNvCxnSpPr/>
          <p:nvPr/>
        </p:nvCxnSpPr>
        <p:spPr>
          <a:xfrm>
            <a:off x="0" y="1438200"/>
            <a:ext cx="9145080" cy="1080"/>
          </a:xfrm>
          <a:prstGeom prst="straightConnector1">
            <a:avLst/>
          </a:prstGeom>
          <a:ln w="0">
            <a:solidFill>
              <a:srgbClr val="0e73b9"/>
            </a:solidFill>
          </a:ln>
        </p:spPr>
      </p:cxnSp>
      <p:sp>
        <p:nvSpPr>
          <p:cNvPr id="10" name="PlaceHolder 1"/>
          <p:cNvSpPr>
            <a:spLocks noGrp="1"/>
          </p:cNvSpPr>
          <p:nvPr>
            <p:ph type="sldNum" idx="1"/>
          </p:nvPr>
        </p:nvSpPr>
        <p:spPr>
          <a:xfrm>
            <a:off x="7086600" y="613368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6E7B9E-7751-44E6-8535-A124998F46FB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edit the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title text </a:t>
            </a: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0" hidden="1"/>
          <p:cNvSpPr/>
          <p:nvPr/>
        </p:nvSpPr>
        <p:spPr>
          <a:xfrm>
            <a:off x="0" y="6498000"/>
            <a:ext cx="9142920" cy="358920"/>
          </a:xfrm>
          <a:prstGeom prst="rect">
            <a:avLst/>
          </a:prstGeom>
          <a:solidFill>
            <a:srgbClr val="0e73b9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" name="Straight Connector 5"/>
          <p:cNvCxnSpPr/>
          <p:nvPr/>
        </p:nvCxnSpPr>
        <p:spPr>
          <a:xfrm>
            <a:off x="0" y="1438200"/>
            <a:ext cx="9145080" cy="1080"/>
          </a:xfrm>
          <a:prstGeom prst="straightConnector1">
            <a:avLst/>
          </a:prstGeom>
          <a:ln w="0">
            <a:solidFill>
              <a:srgbClr val="0e73b9"/>
            </a:solidFill>
          </a:ln>
        </p:spPr>
      </p:cxnSp>
      <p:pic>
        <p:nvPicPr>
          <p:cNvPr id="15" name="Picture 5" descr=""/>
          <p:cNvPicPr/>
          <p:nvPr/>
        </p:nvPicPr>
        <p:blipFill>
          <a:blip r:embed="rId2"/>
          <a:srcRect l="970" t="3972" r="3960" b="557"/>
          <a:stretch/>
        </p:blipFill>
        <p:spPr>
          <a:xfrm>
            <a:off x="0" y="0"/>
            <a:ext cx="914292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Picture 9" descr=""/>
          <p:cNvPicPr/>
          <p:nvPr/>
        </p:nvPicPr>
        <p:blipFill>
          <a:blip r:embed="rId3"/>
          <a:stretch/>
        </p:blipFill>
        <p:spPr>
          <a:xfrm>
            <a:off x="828720" y="525960"/>
            <a:ext cx="3019320" cy="8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0"/>
          <p:cNvSpPr/>
          <p:nvPr/>
        </p:nvSpPr>
        <p:spPr>
          <a:xfrm>
            <a:off x="0" y="6498000"/>
            <a:ext cx="9142920" cy="358920"/>
          </a:xfrm>
          <a:prstGeom prst="rect">
            <a:avLst/>
          </a:prstGeom>
          <a:solidFill>
            <a:srgbClr val="0e73b9"/>
          </a:solidFill>
          <a:ln w="3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7200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Trinity College Dublin, </a:t>
            </a:r>
            <a:r>
              <a:rPr b="0" lang="en-GB" sz="1000" strike="noStrike" u="none">
                <a:solidFill>
                  <a:schemeClr val="lt1"/>
                </a:solidFill>
                <a:uFillTx/>
                <a:latin typeface="Calibri"/>
                <a:ea typeface="DejaVu Sans"/>
              </a:rPr>
              <a:t>The University of Dublin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0" name="Straight Connector 5"/>
          <p:cNvCxnSpPr/>
          <p:nvPr/>
        </p:nvCxnSpPr>
        <p:spPr>
          <a:xfrm>
            <a:off x="0" y="1438200"/>
            <a:ext cx="9145080" cy="1080"/>
          </a:xfrm>
          <a:prstGeom prst="straightConnector1">
            <a:avLst/>
          </a:prstGeom>
          <a:ln w="0">
            <a:solidFill>
              <a:srgbClr val="0e73b9"/>
            </a:solidFill>
          </a:ln>
        </p:spPr>
      </p:cxnSp>
      <p:sp>
        <p:nvSpPr>
          <p:cNvPr id="21" name="PlaceHolder 1"/>
          <p:cNvSpPr>
            <a:spLocks noGrp="1"/>
          </p:cNvSpPr>
          <p:nvPr>
            <p:ph type="sldNum" idx="2"/>
          </p:nvPr>
        </p:nvSpPr>
        <p:spPr>
          <a:xfrm>
            <a:off x="7086600" y="613368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3AD5CB-E5C9-40B8-9556-5FD5555C3685}" type="slidenum">
              <a:rPr b="0" lang="en-IE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499880" cy="5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lt1"/>
                </a:solidFill>
                <a:uFillTx/>
                <a:latin typeface="Calibri"/>
              </a:rPr>
              <a:t>Investigating the Application of a Recommender System for Irish College Courses</a:t>
            </a:r>
            <a:endParaRPr b="0" lang="en-US" sz="2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828720" y="4289400"/>
            <a:ext cx="7499880" cy="3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i="1" lang="en-US" sz="2000" strike="noStrike" u="none">
                <a:solidFill>
                  <a:schemeClr val="lt1"/>
                </a:solidFill>
                <a:uFillTx/>
                <a:latin typeface="Calibri"/>
              </a:rPr>
              <a:t>Masters Thesis Presentation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828720" y="5481720"/>
            <a:ext cx="4678200" cy="97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Principal Investigator: </a:t>
            </a:r>
            <a:r>
              <a:rPr b="1" lang="en-GB" sz="1400" strike="noStrike" u="none">
                <a:solidFill>
                  <a:schemeClr val="lt1"/>
                </a:solidFill>
                <a:uFillTx/>
                <a:latin typeface="Calibri"/>
              </a:rPr>
              <a:t>Brendan McCann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Supervised by: </a:t>
            </a:r>
            <a:r>
              <a:rPr b="1" lang="en-GB" sz="1400" strike="noStrike" u="none">
                <a:solidFill>
                  <a:schemeClr val="lt1"/>
                </a:solidFill>
                <a:uFillTx/>
                <a:latin typeface="Calibri"/>
              </a:rPr>
              <a:t>Prof Owen Conlan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chemeClr val="lt1"/>
                </a:solidFill>
                <a:uFillTx/>
                <a:latin typeface="Calibri"/>
              </a:rPr>
              <a:t>Date 25/03/2026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Motivation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2024: 79% of Irish students entered college from secondary school</a:t>
            </a:r>
            <a:r>
              <a:rPr b="0" lang="en-US" sz="2400" strike="noStrike" u="none" baseline="33000">
                <a:solidFill>
                  <a:schemeClr val="dk1"/>
                </a:solidFill>
                <a:uFillTx/>
                <a:latin typeface="Calibri"/>
              </a:rPr>
              <a:t>[1]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What college course should I study?”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Difficult to answer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2018: 31% Irish graduates: “not likely” to study their course again</a:t>
            </a:r>
            <a:r>
              <a:rPr b="0" lang="en-US" sz="2000" strike="noStrike" u="none" baseline="33000">
                <a:solidFill>
                  <a:schemeClr val="dk1"/>
                </a:solidFill>
                <a:uFillTx/>
                <a:latin typeface="Calibri"/>
              </a:rPr>
              <a:t>[2]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Many influences/reasons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Research question: 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“How can a Recommender System assist an Irish student in their college course decision-making process”?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EB3B70-FCD4-4819-AC77-CC2DB1EF34D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Background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8810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Holland’s </a:t>
            </a:r>
            <a:r>
              <a:rPr b="0" i="1" lang="en-GB" sz="2400" strike="noStrike" u="none">
                <a:solidFill>
                  <a:schemeClr val="dk1"/>
                </a:solidFill>
                <a:uFillTx/>
                <a:latin typeface="Calibri"/>
              </a:rPr>
              <a:t>RIASEC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Model</a:t>
            </a:r>
            <a:r>
              <a:rPr b="0" lang="en-GB" sz="2400" strike="noStrike" u="none" baseline="33000">
                <a:solidFill>
                  <a:schemeClr val="dk1"/>
                </a:solidFill>
                <a:uFillTx/>
                <a:latin typeface="Calibri"/>
              </a:rPr>
              <a:t>[3]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6 vocational personality traits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Most studied career theory</a:t>
            </a:r>
            <a:r>
              <a:rPr b="0" lang="en-GB" sz="2400" strike="noStrike" u="none" baseline="33000">
                <a:solidFill>
                  <a:schemeClr val="dk1"/>
                </a:solidFill>
                <a:uFillTx/>
                <a:latin typeface="Calibri"/>
              </a:rPr>
              <a:t>[4]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What college course should people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study?”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Academic Interests</a:t>
            </a:r>
            <a:r>
              <a:rPr b="0" lang="en-GB" sz="2400" strike="noStrike" u="none" baseline="33000">
                <a:solidFill>
                  <a:schemeClr val="dk1"/>
                </a:solidFill>
                <a:uFillTx/>
                <a:latin typeface="Calibri"/>
              </a:rPr>
              <a:t>[5][6]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Salary</a:t>
            </a:r>
            <a:r>
              <a:rPr b="0" lang="en-GB" sz="2400" strike="noStrike" u="none" baseline="33000">
                <a:solidFill>
                  <a:schemeClr val="dk1"/>
                </a:solidFill>
                <a:uFillTx/>
                <a:latin typeface="Calibri"/>
              </a:rPr>
              <a:t>[5][7]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Meaning</a:t>
            </a:r>
            <a:r>
              <a:rPr b="0" lang="en-GB" sz="2400" strike="noStrike" u="none" baseline="33000">
                <a:solidFill>
                  <a:schemeClr val="dk1"/>
                </a:solidFill>
                <a:uFillTx/>
                <a:latin typeface="Calibri"/>
              </a:rPr>
              <a:t>[5]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5029200" y="2537280"/>
            <a:ext cx="3634200" cy="36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BAD988-3D81-4182-8568-4A226AB2315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Related Work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85800" y="487548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What information do we profile from the user to make </a:t>
            </a: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personalised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college course recommendations?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Research Gap: </a:t>
            </a: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RIASEC + Academic Interests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1600200" y="1208880"/>
            <a:ext cx="6152040" cy="348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4CB2CB-8B9F-4D0B-B95F-98BFD9B1965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Design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957600" y="16002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What information do we profile off a user?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student’s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</a:rPr>
              <a:t>RIASEC Model + LC Points + Academic Interests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4446360" y="3429000"/>
            <a:ext cx="4239720" cy="2742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2"/>
          <a:stretch/>
        </p:blipFill>
        <p:spPr>
          <a:xfrm>
            <a:off x="-19800" y="3429000"/>
            <a:ext cx="4591440" cy="29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2490D63-A9AD-48EB-8CE7-0C469D50CF9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85800" y="144648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21 “Academic Interest” categories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6 questions per “Academic Interest”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Targeting different RIASEC traits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</a:rPr>
              <a:t>Quiz: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6399720" y="1627560"/>
          <a:ext cx="2371320" cy="2552760"/>
        </p:xfrm>
        <a:graphic>
          <a:graphicData uri="http://schemas.openxmlformats.org/drawingml/2006/table">
            <a:tbl>
              <a:tblPr/>
              <a:tblGrid>
                <a:gridCol w="237168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Academic Interests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Agriculture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...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Computers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Healthcare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...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Welfare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1" name="" descr=""/>
          <p:cNvPicPr/>
          <p:nvPr/>
        </p:nvPicPr>
        <p:blipFill>
          <a:blip r:embed="rId1"/>
          <a:stretch/>
        </p:blipFill>
        <p:spPr>
          <a:xfrm>
            <a:off x="600480" y="3657600"/>
            <a:ext cx="4428360" cy="14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Placeholder 1"/>
          <p:cNvSpPr/>
          <p:nvPr/>
        </p:nvSpPr>
        <p:spPr>
          <a:xfrm>
            <a:off x="685800" y="533304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“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Investigative”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RIASEC Quality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“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Computers”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Academic Interest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5C01BF-38C5-420D-9A1C-DC2A531DDACB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Placeholder 9"/>
          <p:cNvSpPr/>
          <p:nvPr/>
        </p:nvSpPr>
        <p:spPr>
          <a:xfrm>
            <a:off x="729000" y="182880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Every user is a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2</a:t>
            </a:r>
            <a:r>
              <a:rPr b="1" lang="en-US" sz="22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8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-dimensional vector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Values normalized between 0.0 and 1.0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457200" y="2971800"/>
            <a:ext cx="8000640" cy="33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81CAB0-89B0-4B4C-852F-A7E1D54C0F55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28720" y="144648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Noto Sans CJK SC"/>
              </a:rPr>
              <a:t>Every college course is also a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Noto Sans CJK SC"/>
              </a:rPr>
              <a:t>2</a:t>
            </a:r>
            <a:r>
              <a:rPr b="1" lang="en-US" sz="2200" strike="noStrike" u="none">
                <a:solidFill>
                  <a:schemeClr val="dk1"/>
                </a:solidFill>
                <a:uFillTx/>
                <a:latin typeface="Calibri"/>
                <a:ea typeface="Noto Sans CJK SC"/>
              </a:rPr>
              <a:t>8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Noto Sans CJK SC"/>
              </a:rPr>
              <a:t>-dimensional vector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457200" y="1892520"/>
            <a:ext cx="4215960" cy="336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2286360" y="3882600"/>
            <a:ext cx="6628680" cy="24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8DE978C-28D1-438F-9B66-6F225D9FE75B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Implementation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rcRect l="0" t="0" r="35988" b="0"/>
          <a:stretch/>
        </p:blipFill>
        <p:spPr>
          <a:xfrm>
            <a:off x="4800600" y="1600200"/>
            <a:ext cx="4114080" cy="161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 Placeholder 8"/>
          <p:cNvSpPr/>
          <p:nvPr/>
        </p:nvSpPr>
        <p:spPr>
          <a:xfrm>
            <a:off x="729000" y="320040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similarityScore = cosineSimilarity(user, collegeCourse)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228600" y="1893600"/>
            <a:ext cx="4571280" cy="107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tretch/>
        </p:blipFill>
        <p:spPr>
          <a:xfrm>
            <a:off x="2971080" y="3657600"/>
            <a:ext cx="3429000" cy="221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Placeholder 11"/>
          <p:cNvSpPr/>
          <p:nvPr/>
        </p:nvSpPr>
        <p:spPr>
          <a:xfrm>
            <a:off x="729360" y="571500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Return </a:t>
            </a:r>
            <a:r>
              <a:rPr b="1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Top 20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matches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9EE5FB4-1FAC-4ACE-A5AC-658A934D4F4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Experiment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 Placeholder 2"/>
          <p:cNvSpPr/>
          <p:nvPr/>
        </p:nvSpPr>
        <p:spPr>
          <a:xfrm>
            <a:off x="729000" y="167544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Participants aged 18-24 who applied to college through the CAO system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Participants were sought opportunistically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648000" indent="-216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Ethics approved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N = 31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Participants got 2 recommendation sets: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864000" indent="-216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Actual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864000" indent="-216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Baseline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1296000" indent="-216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Top courses sorted by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LC points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Participants provided their original college application list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3DA907-FC0D-40CF-9555-C87B3B893E7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Demo of Project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32A301B-799C-48CF-AE8B-848EB952009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Evaluation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28720" y="487584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228600" y="1828800"/>
            <a:ext cx="3885840" cy="388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 descr=""/>
          <p:cNvPicPr/>
          <p:nvPr/>
        </p:nvPicPr>
        <p:blipFill>
          <a:blip r:embed="rId2"/>
          <a:stretch/>
        </p:blipFill>
        <p:spPr>
          <a:xfrm>
            <a:off x="4359600" y="1936800"/>
            <a:ext cx="4737600" cy="160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3"/>
          <a:stretch/>
        </p:blipFill>
        <p:spPr>
          <a:xfrm>
            <a:off x="4343400" y="3707280"/>
            <a:ext cx="4571640" cy="155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B007CA-E302-4C4C-9F17-5595591F895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Evaluation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28720" y="487584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1143000" y="1600200"/>
            <a:ext cx="6401160" cy="480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689D0D-68A5-4D3A-A12F-AB5569106AF6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360080" y="1068480"/>
            <a:ext cx="6191640" cy="359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Evaluation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Placeholder 3"/>
          <p:cNvSpPr/>
          <p:nvPr/>
        </p:nvSpPr>
        <p:spPr>
          <a:xfrm>
            <a:off x="500760" y="4647240"/>
            <a:ext cx="7499880" cy="40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Diversity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=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insignificant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differences between actual and baseline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Novelty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=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significant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improvement of baseline compared to actual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Everything else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= </a:t>
            </a:r>
            <a:r>
              <a:rPr b="1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significant </a:t>
            </a: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  <a:ea typeface="DejaVu Sans"/>
              </a:rPr>
              <a:t>improvements of actual compared to baseline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BA4AF64-F3ED-4171-8D57-BEFC3CC2F4A6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Conclusions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Research question: 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“How can a Recommender System assist an Irish student in their college course decision-making process”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By recommending college courses that: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Are relevant to their preferences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Serendipitous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Future work: 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alibri"/>
              </a:rPr>
              <a:t>Academic Interests” were too broad, e.g. Economics being classed under social science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25B3CDD-221A-4924-8F86-4DA702DA188C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28720" y="3131640"/>
            <a:ext cx="7499880" cy="6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5400" strike="noStrike" u="none">
                <a:solidFill>
                  <a:schemeClr val="lt1"/>
                </a:solidFill>
                <a:uFillTx/>
                <a:latin typeface="Calibri"/>
              </a:rPr>
              <a:t>Questions ?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28720" y="3715200"/>
            <a:ext cx="7499880" cy="5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4200" strike="noStrike" u="none">
                <a:solidFill>
                  <a:schemeClr val="lt1"/>
                </a:solidFill>
                <a:uFillTx/>
                <a:latin typeface="Calibri"/>
              </a:rPr>
              <a:t>Thank You</a:t>
            </a:r>
            <a:endParaRPr b="0" lang="en-US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28720" y="360000"/>
            <a:ext cx="7499880" cy="56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2800" strike="noStrike" u="none">
                <a:solidFill>
                  <a:schemeClr val="dk1"/>
                </a:solidFill>
                <a:uFillTx/>
                <a:latin typeface="Calibri"/>
              </a:rPr>
              <a:t>Bibliography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28720" y="1881000"/>
            <a:ext cx="7499880" cy="40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Higher Education Authority (2024). Key facts and figures for ireland’s publicly-funded higher education institutions. https://hea.ie/statistics/ data-for-download-and-visualisations/key-facts-figures-report/. Accessed: 2026-03-11.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Higher Education Authority (2018). Graduate outcomes: Honours degree graduates. https://hea.ie/statistics/graduate-outcomes-data-and-reports/ graduate-outcomes-2018/honours-degree-graduates/. Accessed: 2026-03-11.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Holland, J. L. (1959). A theory of vocational choice. Journal of counseling psychology, 6(1):35.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Spokane, A. R. and Cruza-Guet, M. C. (2005). Holland’s theory of vocational personalities in work environments. Career development and counseling: Putting theory and research to work, 24.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Matthews, K. N., Edmondson, D. R., and Matthews, L. (2024). Why students select their college major: An investigative study. Atlantic Marketing Journal, 13(1):11.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Hoff, K., Wee, C., Song, Q. C., Phan, W. M. J., and Rounds, J. (2018). Meta-analysis of vocational interests and job satisfaction: Challenging a common belief. Academy of Management Proceedings, 2018:12220.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1000" strike="noStrike" u="none">
                <a:solidFill>
                  <a:srgbClr val="000000"/>
                </a:solidFill>
                <a:uFillTx/>
                <a:latin typeface="Arial"/>
              </a:rPr>
              <a:t>Judge, T. A., Piccolo, R. F., Podsakoff, N. P., Shaw, J. C., and Rich, B. L. (2010). The relationship between pay and job satisfaction: A meta-analysis of the literature. Journal of vocational behavior, 77(2):157–167.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828720" y="914400"/>
            <a:ext cx="7499880" cy="2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CDF146-9F67-4D41-B49F-2F2D85D0684C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rinity_PPT_Calibri_Option1">
  <a:themeElements>
    <a:clrScheme name="Trinity College">
      <a:dk1>
        <a:srgbClr val="000000"/>
      </a:dk1>
      <a:lt1>
        <a:srgbClr val="ffffff"/>
      </a:lt1>
      <a:dk2>
        <a:srgbClr val="3e6db2"/>
      </a:dk2>
      <a:lt2>
        <a:srgbClr val="ffffff"/>
      </a:lt2>
      <a:accent1>
        <a:srgbClr val="4f81bd"/>
      </a:accent1>
      <a:accent2>
        <a:srgbClr val="0e73b9"/>
      </a:accent2>
      <a:accent3>
        <a:srgbClr val="7c7c7c"/>
      </a:accent3>
      <a:accent4>
        <a:srgbClr val="a6a6a6"/>
      </a:accent4>
      <a:accent5>
        <a:srgbClr val="4f81bd"/>
      </a:accent5>
      <a:accent6>
        <a:srgbClr val="3e6db2"/>
      </a:accent6>
      <a:hlink>
        <a:srgbClr val="000000"/>
      </a:hlink>
      <a:folHlink>
        <a:srgbClr val="00000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Trinity_PPT_Calibri_Option1</Template>
  <TotalTime>77</TotalTime>
  <Application>LibreOffice/24.8.4.2$Linux_X86_64 LibreOffice_project/bb3cfa12c7b1bf994ecc5649a80400d06cd71002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2015-04-21T16:55:16Z</dcterms:created>
  <dc:creator>Administrator</dc:creator>
  <dc:description/>
  <dc:language>en-US</dc:language>
  <cp:lastModifiedBy/>
  <cp:lastPrinted>2014-12-16T10:33:11Z</cp:lastPrinted>
  <dcterms:modified xsi:type="dcterms:W3CDTF">2026-03-16T22:02:39Z</dcterms:modified>
  <cp:revision>16</cp:revision>
  <dc:subject/>
  <dc:title>Title — Calibri Bold 26pt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</vt:r8>
  </property>
  <property fmtid="{D5CDD505-2E9C-101B-9397-08002B2CF9AE}" pid="3" name="PresentationFormat">
    <vt:lpwstr>On-screen Show (4:3)</vt:lpwstr>
  </property>
  <property fmtid="{D5CDD505-2E9C-101B-9397-08002B2CF9AE}" pid="4" name="Slides">
    <vt:r8>13</vt:r8>
  </property>
</Properties>
</file>