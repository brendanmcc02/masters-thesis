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_rels/presentation.xml.rels" ContentType="application/vnd.openxmlformats-package.relationships+xml"/>
  <Override PartName="/ppt/media/image13.png" ContentType="image/png"/>
  <Override PartName="/ppt/media/image4.png" ContentType="image/png"/>
  <Override PartName="/ppt/media/image11.jpeg" ContentType="image/jpeg"/>
  <Override PartName="/ppt/media/image9.png" ContentType="image/png"/>
  <Override PartName="/ppt/media/image2.png" ContentType="image/png"/>
  <Override PartName="/ppt/media/image14.png" ContentType="image/png"/>
  <Override PartName="/ppt/media/image5.png" ContentType="image/png"/>
  <Override PartName="/ppt/media/image1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16.png" ContentType="image/png"/>
  <Override PartName="/ppt/media/image7.png" ContentType="image/png"/>
  <Override PartName="/ppt/media/image17.png" ContentType="image/png"/>
  <Override PartName="/ppt/media/image8.png" ContentType="image/png"/>
  <Override PartName="/ppt/media/image12.png" ContentType="image/png"/>
  <Override PartName="/ppt/media/image3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4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9144000" cy="6858000"/>
  <p:notesSz cx="6858000" cy="9947275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236F2D6-1FC5-46D8-8010-05817F30D54C}" type="slidenum"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sldImg"/>
          </p:nvPr>
        </p:nvSpPr>
        <p:spPr>
          <a:xfrm>
            <a:off x="942840" y="746280"/>
            <a:ext cx="4970880" cy="3729600"/>
          </a:xfrm>
          <a:prstGeom prst="rect">
            <a:avLst/>
          </a:prstGeom>
          <a:ln w="0">
            <a:noFill/>
          </a:ln>
        </p:spPr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987840" y="4725000"/>
            <a:ext cx="4907160" cy="447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sldNum" idx="7"/>
          </p:nvPr>
        </p:nvSpPr>
        <p:spPr>
          <a:xfrm>
            <a:off x="6022800" y="9450000"/>
            <a:ext cx="834120" cy="49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B80F344-5A30-480D-8D9B-A7F4FB0FF5B5}" type="slidenum">
              <a:rPr b="0" lang="en-GB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&amp; Content 2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947B35E-BB21-4C2B-8E02-66CB30E7DEA3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&amp; Content 20p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B9CB812-3BD2-404C-8179-2796CF1770FB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&amp; Content 20pt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867B532-6823-49C7-A832-194C66D093D5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10" hidden="1"/>
          <p:cNvSpPr/>
          <p:nvPr/>
        </p:nvSpPr>
        <p:spPr>
          <a:xfrm>
            <a:off x="0" y="6498000"/>
            <a:ext cx="9142920" cy="358920"/>
          </a:xfrm>
          <a:prstGeom prst="rect">
            <a:avLst/>
          </a:prstGeom>
          <a:solidFill>
            <a:srgbClr val="0e73b9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727200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000" strike="noStrike" u="none">
                <a:solidFill>
                  <a:schemeClr val="lt1"/>
                </a:solidFill>
                <a:uFillTx/>
                <a:latin typeface="Calibri"/>
                <a:ea typeface="DejaVu Sans"/>
              </a:rPr>
              <a:t>Trinity College Dublin, </a:t>
            </a:r>
            <a:r>
              <a:rPr b="0" lang="en-GB" sz="1000" strike="noStrike" u="none">
                <a:solidFill>
                  <a:schemeClr val="lt1"/>
                </a:solidFill>
                <a:uFillTx/>
                <a:latin typeface="Calibri"/>
                <a:ea typeface="DejaVu Sans"/>
              </a:rPr>
              <a:t>The University of Dublin</a:t>
            </a:r>
            <a:endParaRPr b="0" lang="en-US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1" name="Straight Connector 5"/>
          <p:cNvCxnSpPr/>
          <p:nvPr/>
        </p:nvCxnSpPr>
        <p:spPr>
          <a:xfrm>
            <a:off x="0" y="1438200"/>
            <a:ext cx="9145080" cy="1080"/>
          </a:xfrm>
          <a:prstGeom prst="straightConnector1">
            <a:avLst/>
          </a:prstGeom>
          <a:ln w="0">
            <a:solidFill>
              <a:srgbClr val="0e73b9"/>
            </a:solidFill>
          </a:ln>
        </p:spPr>
      </p:cxnSp>
      <p:pic>
        <p:nvPicPr>
          <p:cNvPr id="2" name="Picture 3" descr=""/>
          <p:cNvPicPr/>
          <p:nvPr/>
        </p:nvPicPr>
        <p:blipFill>
          <a:blip r:embed="rId2"/>
          <a:srcRect l="970" t="3972" r="3960" b="557"/>
          <a:stretch/>
        </p:blipFill>
        <p:spPr>
          <a:xfrm>
            <a:off x="0" y="0"/>
            <a:ext cx="914292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Picture 4" descr=""/>
          <p:cNvPicPr/>
          <p:nvPr/>
        </p:nvPicPr>
        <p:blipFill>
          <a:blip r:embed="rId3"/>
          <a:stretch/>
        </p:blipFill>
        <p:spPr>
          <a:xfrm>
            <a:off x="828720" y="525960"/>
            <a:ext cx="3019320" cy="80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88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10"/>
          <p:cNvSpPr/>
          <p:nvPr/>
        </p:nvSpPr>
        <p:spPr>
          <a:xfrm>
            <a:off x="0" y="6498000"/>
            <a:ext cx="9142920" cy="358920"/>
          </a:xfrm>
          <a:prstGeom prst="rect">
            <a:avLst/>
          </a:prstGeom>
          <a:solidFill>
            <a:srgbClr val="0e73b9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727200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000" strike="noStrike" u="none">
                <a:solidFill>
                  <a:schemeClr val="lt1"/>
                </a:solidFill>
                <a:uFillTx/>
                <a:latin typeface="Calibri"/>
                <a:ea typeface="DejaVu Sans"/>
              </a:rPr>
              <a:t>Trinity College Dublin, </a:t>
            </a:r>
            <a:r>
              <a:rPr b="0" lang="en-GB" sz="1000" strike="noStrike" u="none">
                <a:solidFill>
                  <a:schemeClr val="lt1"/>
                </a:solidFill>
                <a:uFillTx/>
                <a:latin typeface="Calibri"/>
                <a:ea typeface="DejaVu Sans"/>
              </a:rPr>
              <a:t>The University of Dublin</a:t>
            </a:r>
            <a:endParaRPr b="0" lang="en-US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9" name="Straight Connector 5"/>
          <p:cNvCxnSpPr/>
          <p:nvPr/>
        </p:nvCxnSpPr>
        <p:spPr>
          <a:xfrm>
            <a:off x="0" y="1438200"/>
            <a:ext cx="9145080" cy="1080"/>
          </a:xfrm>
          <a:prstGeom prst="straightConnector1">
            <a:avLst/>
          </a:prstGeom>
          <a:ln w="0">
            <a:solidFill>
              <a:srgbClr val="0e73b9"/>
            </a:solidFill>
          </a:ln>
        </p:spPr>
      </p:cxnSp>
      <p:sp>
        <p:nvSpPr>
          <p:cNvPr id="10" name="PlaceHolder 1"/>
          <p:cNvSpPr>
            <a:spLocks noGrp="1"/>
          </p:cNvSpPr>
          <p:nvPr>
            <p:ph type="sldNum" idx="1"/>
          </p:nvPr>
        </p:nvSpPr>
        <p:spPr>
          <a:xfrm>
            <a:off x="7086600" y="613368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A9FD90B-9860-4132-BDB5-CD1EECBA1F5F}" type="slidenum">
              <a:rPr b="0" lang="en-I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0" hidden="1"/>
          <p:cNvSpPr/>
          <p:nvPr/>
        </p:nvSpPr>
        <p:spPr>
          <a:xfrm>
            <a:off x="0" y="6498000"/>
            <a:ext cx="9142920" cy="358920"/>
          </a:xfrm>
          <a:prstGeom prst="rect">
            <a:avLst/>
          </a:prstGeom>
          <a:solidFill>
            <a:srgbClr val="0e73b9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727200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000" strike="noStrike" u="none">
                <a:solidFill>
                  <a:schemeClr val="lt1"/>
                </a:solidFill>
                <a:uFillTx/>
                <a:latin typeface="Calibri"/>
                <a:ea typeface="DejaVu Sans"/>
              </a:rPr>
              <a:t>Trinity College Dublin, </a:t>
            </a:r>
            <a:r>
              <a:rPr b="0" lang="en-GB" sz="1000" strike="noStrike" u="none">
                <a:solidFill>
                  <a:schemeClr val="lt1"/>
                </a:solidFill>
                <a:uFillTx/>
                <a:latin typeface="Calibri"/>
                <a:ea typeface="DejaVu Sans"/>
              </a:rPr>
              <a:t>The University of Dublin</a:t>
            </a:r>
            <a:endParaRPr b="0" lang="en-US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14" name="Straight Connector 5"/>
          <p:cNvCxnSpPr/>
          <p:nvPr/>
        </p:nvCxnSpPr>
        <p:spPr>
          <a:xfrm>
            <a:off x="0" y="1438200"/>
            <a:ext cx="9145080" cy="1080"/>
          </a:xfrm>
          <a:prstGeom prst="straightConnector1">
            <a:avLst/>
          </a:prstGeom>
          <a:ln w="0">
            <a:solidFill>
              <a:srgbClr val="0e73b9"/>
            </a:solidFill>
          </a:ln>
        </p:spPr>
      </p:cxnSp>
      <p:pic>
        <p:nvPicPr>
          <p:cNvPr id="15" name="Picture 5" descr=""/>
          <p:cNvPicPr/>
          <p:nvPr/>
        </p:nvPicPr>
        <p:blipFill>
          <a:blip r:embed="rId2"/>
          <a:srcRect l="970" t="3972" r="3960" b="557"/>
          <a:stretch/>
        </p:blipFill>
        <p:spPr>
          <a:xfrm>
            <a:off x="0" y="0"/>
            <a:ext cx="914292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Picture 9" descr=""/>
          <p:cNvPicPr/>
          <p:nvPr/>
        </p:nvPicPr>
        <p:blipFill>
          <a:blip r:embed="rId3"/>
          <a:stretch/>
        </p:blipFill>
        <p:spPr>
          <a:xfrm>
            <a:off x="828720" y="525960"/>
            <a:ext cx="3019320" cy="80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0"/>
          <p:cNvSpPr/>
          <p:nvPr/>
        </p:nvSpPr>
        <p:spPr>
          <a:xfrm>
            <a:off x="0" y="6498000"/>
            <a:ext cx="9142920" cy="358920"/>
          </a:xfrm>
          <a:prstGeom prst="rect">
            <a:avLst/>
          </a:prstGeom>
          <a:solidFill>
            <a:srgbClr val="0e73b9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727200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000" strike="noStrike" u="none">
                <a:solidFill>
                  <a:schemeClr val="lt1"/>
                </a:solidFill>
                <a:uFillTx/>
                <a:latin typeface="Calibri"/>
                <a:ea typeface="DejaVu Sans"/>
              </a:rPr>
              <a:t>Trinity College Dublin, </a:t>
            </a:r>
            <a:r>
              <a:rPr b="0" lang="en-GB" sz="1000" strike="noStrike" u="none">
                <a:solidFill>
                  <a:schemeClr val="lt1"/>
                </a:solidFill>
                <a:uFillTx/>
                <a:latin typeface="Calibri"/>
                <a:ea typeface="DejaVu Sans"/>
              </a:rPr>
              <a:t>The University of Dublin</a:t>
            </a:r>
            <a:endParaRPr b="0" lang="en-US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20" name="Straight Connector 5"/>
          <p:cNvCxnSpPr/>
          <p:nvPr/>
        </p:nvCxnSpPr>
        <p:spPr>
          <a:xfrm>
            <a:off x="0" y="1438200"/>
            <a:ext cx="9145080" cy="1080"/>
          </a:xfrm>
          <a:prstGeom prst="straightConnector1">
            <a:avLst/>
          </a:prstGeom>
          <a:ln w="0">
            <a:solidFill>
              <a:srgbClr val="0e73b9"/>
            </a:solidFill>
          </a:ln>
        </p:spPr>
      </p:cxnSp>
      <p:sp>
        <p:nvSpPr>
          <p:cNvPr id="21" name="PlaceHolder 1"/>
          <p:cNvSpPr>
            <a:spLocks noGrp="1"/>
          </p:cNvSpPr>
          <p:nvPr>
            <p:ph type="sldNum" idx="2"/>
          </p:nvPr>
        </p:nvSpPr>
        <p:spPr>
          <a:xfrm>
            <a:off x="7086600" y="613368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BE7871-E32A-4246-B7EA-FA6DA916F298}" type="slidenum">
              <a:rPr b="0" lang="en-I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10"/>
          <p:cNvSpPr/>
          <p:nvPr/>
        </p:nvSpPr>
        <p:spPr>
          <a:xfrm>
            <a:off x="0" y="6498000"/>
            <a:ext cx="9142920" cy="358920"/>
          </a:xfrm>
          <a:prstGeom prst="rect">
            <a:avLst/>
          </a:prstGeom>
          <a:solidFill>
            <a:srgbClr val="0e73b9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727200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000" strike="noStrike" u="none">
                <a:solidFill>
                  <a:schemeClr val="lt1"/>
                </a:solidFill>
                <a:uFillTx/>
                <a:latin typeface="Calibri"/>
                <a:ea typeface="DejaVu Sans"/>
              </a:rPr>
              <a:t>Trinity College Dublin, </a:t>
            </a:r>
            <a:r>
              <a:rPr b="0" lang="en-GB" sz="1000" strike="noStrike" u="none">
                <a:solidFill>
                  <a:schemeClr val="lt1"/>
                </a:solidFill>
                <a:uFillTx/>
                <a:latin typeface="Calibri"/>
                <a:ea typeface="DejaVu Sans"/>
              </a:rPr>
              <a:t>The University of Dublin</a:t>
            </a:r>
            <a:endParaRPr b="0" lang="en-US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cxnSp>
        <p:nvCxnSpPr>
          <p:cNvPr id="25" name="Straight Connector 5"/>
          <p:cNvCxnSpPr/>
          <p:nvPr/>
        </p:nvCxnSpPr>
        <p:spPr>
          <a:xfrm>
            <a:off x="0" y="1438200"/>
            <a:ext cx="9145080" cy="1080"/>
          </a:xfrm>
          <a:prstGeom prst="straightConnector1">
            <a:avLst/>
          </a:prstGeom>
          <a:ln w="0">
            <a:solidFill>
              <a:srgbClr val="0e73b9"/>
            </a:solidFill>
          </a:ln>
        </p:spPr>
      </p:cxnSp>
      <p:sp>
        <p:nvSpPr>
          <p:cNvPr id="26" name="PlaceHolder 1"/>
          <p:cNvSpPr>
            <a:spLocks noGrp="1"/>
          </p:cNvSpPr>
          <p:nvPr>
            <p:ph type="sldNum" idx="3"/>
          </p:nvPr>
        </p:nvSpPr>
        <p:spPr>
          <a:xfrm>
            <a:off x="7086600" y="613368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I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DFB3B39-0012-4394-BB39-5AC0FB42F88F}" type="slidenum">
              <a:rPr b="0" lang="en-IE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1.jpeg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828720" y="3715200"/>
            <a:ext cx="74998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lt1"/>
                </a:solidFill>
                <a:uFillTx/>
                <a:latin typeface="Calibri"/>
              </a:rPr>
              <a:t>Investigating the Application of a Recommender System for Irish College Courses</a:t>
            </a:r>
            <a:endParaRPr b="0" lang="en-US" sz="2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ubTitle"/>
          </p:nvPr>
        </p:nvSpPr>
        <p:spPr>
          <a:xfrm>
            <a:off x="828720" y="4289400"/>
            <a:ext cx="7499880" cy="36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i="1" lang="en-US" sz="2000" strike="noStrike" u="none">
                <a:solidFill>
                  <a:schemeClr val="lt1"/>
                </a:solidFill>
                <a:uFillTx/>
                <a:latin typeface="Calibri"/>
              </a:rPr>
              <a:t>Masters Thesis Presentation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828720" y="5481720"/>
            <a:ext cx="4678200" cy="97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400" strike="noStrike" u="none">
                <a:solidFill>
                  <a:schemeClr val="lt1"/>
                </a:solidFill>
                <a:uFillTx/>
                <a:latin typeface="Calibri"/>
              </a:rPr>
              <a:t>Principal Investigator: </a:t>
            </a:r>
            <a:r>
              <a:rPr b="1" lang="en-GB" sz="1400" strike="noStrike" u="none">
                <a:solidFill>
                  <a:schemeClr val="lt1"/>
                </a:solidFill>
                <a:uFillTx/>
                <a:latin typeface="Calibri"/>
              </a:rPr>
              <a:t>Brendan McCann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400" strike="noStrike" u="none">
                <a:solidFill>
                  <a:schemeClr val="lt1"/>
                </a:solidFill>
                <a:uFillTx/>
                <a:latin typeface="Calibri"/>
              </a:rPr>
              <a:t>Supervised by: </a:t>
            </a:r>
            <a:r>
              <a:rPr b="1" lang="en-GB" sz="1400" strike="noStrike" u="none">
                <a:solidFill>
                  <a:schemeClr val="lt1"/>
                </a:solidFill>
                <a:uFillTx/>
                <a:latin typeface="Calibri"/>
              </a:rPr>
              <a:t>Prof Owen Conlan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567"/>
              </a:spcBef>
              <a:buNone/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567"/>
              </a:spcBef>
              <a:buNone/>
              <a:tabLst>
                <a:tab algn="l" pos="0"/>
              </a:tabLst>
            </a:pPr>
            <a:r>
              <a:rPr b="0" lang="en-GB" sz="1400" strike="noStrike" u="none">
                <a:solidFill>
                  <a:schemeClr val="lt1"/>
                </a:solidFill>
                <a:uFillTx/>
                <a:latin typeface="Calibri"/>
              </a:rPr>
              <a:t>Date 25/03/2026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28720" y="360000"/>
            <a:ext cx="7499880" cy="56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2800" strike="noStrike" u="none">
                <a:solidFill>
                  <a:schemeClr val="dk1"/>
                </a:solidFill>
                <a:uFillTx/>
                <a:latin typeface="Calibri"/>
              </a:rPr>
              <a:t>Motivation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828720" y="1881000"/>
            <a:ext cx="7499880" cy="403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2024: 79% of Irish students entered college from secondary school</a:t>
            </a:r>
            <a:r>
              <a:rPr b="0" lang="en-US" sz="2400" strike="noStrike" u="none" baseline="33000">
                <a:solidFill>
                  <a:schemeClr val="dk1"/>
                </a:solidFill>
                <a:uFillTx/>
                <a:latin typeface="Calibri"/>
              </a:rPr>
              <a:t>[1]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i="1" lang="en-US" sz="2400" strike="noStrike" u="none">
                <a:solidFill>
                  <a:schemeClr val="dk1"/>
                </a:solidFill>
                <a:uFillTx/>
                <a:latin typeface="Calibri"/>
              </a:rPr>
              <a:t>“</a:t>
            </a:r>
            <a:r>
              <a:rPr b="0" i="1" lang="en-US" sz="2400" strike="noStrike" u="none">
                <a:solidFill>
                  <a:schemeClr val="dk1"/>
                </a:solidFill>
                <a:uFillTx/>
                <a:latin typeface="Calibri"/>
              </a:rPr>
              <a:t>What college course should I study?”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Difficult to answer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2018: 31% Irish graduates: “not likely” to study their course again</a:t>
            </a:r>
            <a:r>
              <a:rPr b="0" lang="en-US" sz="2000" strike="noStrike" u="none" baseline="33000">
                <a:solidFill>
                  <a:schemeClr val="dk1"/>
                </a:solidFill>
                <a:uFillTx/>
                <a:latin typeface="Calibri"/>
              </a:rPr>
              <a:t>[2]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Many influences/reasons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Research question: </a:t>
            </a:r>
            <a:r>
              <a:rPr b="0" i="1" lang="en-US" sz="2400" strike="noStrike" u="none">
                <a:solidFill>
                  <a:schemeClr val="dk1"/>
                </a:solidFill>
                <a:uFillTx/>
                <a:latin typeface="Calibri"/>
              </a:rPr>
              <a:t>“How can a Recommender System assist an Irish student in their college course decision-making process”?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/>
          </p:nvPr>
        </p:nvSpPr>
        <p:spPr>
          <a:xfrm>
            <a:off x="828720" y="914400"/>
            <a:ext cx="7499880" cy="2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BBFDD57-7925-426A-83D5-C5F97F715AF9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28720" y="360000"/>
            <a:ext cx="7499880" cy="56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2800" strike="noStrike" u="none">
                <a:solidFill>
                  <a:schemeClr val="dk1"/>
                </a:solidFill>
                <a:uFillTx/>
                <a:latin typeface="Calibri"/>
              </a:rPr>
              <a:t>Background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457200" y="1881000"/>
            <a:ext cx="7499880" cy="403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Holland’s </a:t>
            </a:r>
            <a:r>
              <a:rPr b="0" i="1" lang="en-GB" sz="2400" strike="noStrike" u="none">
                <a:solidFill>
                  <a:schemeClr val="dk1"/>
                </a:solidFill>
                <a:uFillTx/>
                <a:latin typeface="Calibri"/>
              </a:rPr>
              <a:t>RIASEC </a:t>
            </a: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Model</a:t>
            </a:r>
            <a:r>
              <a:rPr b="0" lang="en-GB" sz="2400" strike="noStrike" u="none" baseline="33000">
                <a:solidFill>
                  <a:schemeClr val="dk1"/>
                </a:solidFill>
                <a:uFillTx/>
                <a:latin typeface="Calibri"/>
              </a:rPr>
              <a:t>[3]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6 vocational personality traits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Most studied career theory</a:t>
            </a:r>
            <a:r>
              <a:rPr b="0" lang="en-GB" sz="2400" strike="noStrike" u="none" baseline="33000">
                <a:solidFill>
                  <a:schemeClr val="dk1"/>
                </a:solidFill>
                <a:uFillTx/>
                <a:latin typeface="Calibri"/>
              </a:rPr>
              <a:t>[4]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“</a:t>
            </a: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What college course should people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study?”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Academic Interests</a:t>
            </a:r>
            <a:r>
              <a:rPr b="0" lang="en-GB" sz="2400" strike="noStrike" u="none" baseline="33000">
                <a:solidFill>
                  <a:schemeClr val="dk1"/>
                </a:solidFill>
                <a:uFillTx/>
                <a:latin typeface="Calibri"/>
              </a:rPr>
              <a:t>[5][6]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Salary</a:t>
            </a:r>
            <a:r>
              <a:rPr b="0" lang="en-GB" sz="2400" strike="noStrike" u="none" baseline="33000">
                <a:solidFill>
                  <a:schemeClr val="dk1"/>
                </a:solidFill>
                <a:uFillTx/>
                <a:latin typeface="Calibri"/>
              </a:rPr>
              <a:t>[5][7]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Meaning</a:t>
            </a:r>
            <a:r>
              <a:rPr b="0" lang="en-GB" sz="2400" strike="noStrike" u="none" baseline="33000">
                <a:solidFill>
                  <a:schemeClr val="dk1"/>
                </a:solidFill>
                <a:uFillTx/>
                <a:latin typeface="Calibri"/>
              </a:rPr>
              <a:t>[5]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5029200" y="2537280"/>
            <a:ext cx="3634200" cy="363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A7E4EDD-CA46-4AF7-9D65-2E9A70E2985C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28720" y="360000"/>
            <a:ext cx="7499880" cy="56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2800" strike="noStrike" u="none">
                <a:solidFill>
                  <a:schemeClr val="dk1"/>
                </a:solidFill>
                <a:uFillTx/>
                <a:latin typeface="Calibri"/>
              </a:rPr>
              <a:t>Related Work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685800" y="4875480"/>
            <a:ext cx="7499880" cy="403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What information do we profile from the user to make </a:t>
            </a:r>
            <a:r>
              <a:rPr b="1" lang="en-GB" sz="2400" strike="noStrike" u="none">
                <a:solidFill>
                  <a:schemeClr val="dk1"/>
                </a:solidFill>
                <a:uFillTx/>
                <a:latin typeface="Calibri"/>
              </a:rPr>
              <a:t>personalised </a:t>
            </a: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college course recommendations?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1" lang="en-GB" sz="2400" strike="noStrike" u="none">
                <a:solidFill>
                  <a:schemeClr val="dk1"/>
                </a:solidFill>
                <a:uFillTx/>
                <a:latin typeface="Calibri"/>
              </a:rPr>
              <a:t>Research Gap: </a:t>
            </a: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RIASEC + Academic Interests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6" name="" descr=""/>
          <p:cNvPicPr/>
          <p:nvPr/>
        </p:nvPicPr>
        <p:blipFill>
          <a:blip r:embed="rId1"/>
          <a:stretch/>
        </p:blipFill>
        <p:spPr>
          <a:xfrm>
            <a:off x="1600200" y="1208880"/>
            <a:ext cx="6152040" cy="348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56D85E1-EB56-4992-A4EF-251B479BF0C3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28720" y="360000"/>
            <a:ext cx="7499880" cy="56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2800" strike="noStrike" u="none">
                <a:solidFill>
                  <a:schemeClr val="dk1"/>
                </a:solidFill>
                <a:uFillTx/>
                <a:latin typeface="Calibri"/>
              </a:rPr>
              <a:t>Design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957600" y="1600200"/>
            <a:ext cx="7499880" cy="403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What information do we profile off a user?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student’s </a:t>
            </a:r>
            <a:r>
              <a:rPr b="1" lang="en-US" sz="2000" strike="noStrike" u="none">
                <a:solidFill>
                  <a:schemeClr val="dk1"/>
                </a:solidFill>
                <a:uFillTx/>
                <a:latin typeface="Calibri"/>
              </a:rPr>
              <a:t>RIASEC Model + LC Points + Academic Interests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9" name="" descr=""/>
          <p:cNvPicPr/>
          <p:nvPr/>
        </p:nvPicPr>
        <p:blipFill>
          <a:blip r:embed="rId1"/>
          <a:stretch/>
        </p:blipFill>
        <p:spPr>
          <a:xfrm>
            <a:off x="4446360" y="3429000"/>
            <a:ext cx="4239720" cy="2742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" name="" descr=""/>
          <p:cNvPicPr/>
          <p:nvPr/>
        </p:nvPicPr>
        <p:blipFill>
          <a:blip r:embed="rId2"/>
          <a:stretch/>
        </p:blipFill>
        <p:spPr>
          <a:xfrm>
            <a:off x="-19800" y="3429000"/>
            <a:ext cx="4591440" cy="29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CEAA901-C8AB-44E9-9C96-FBBCCE757995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828720" y="360000"/>
            <a:ext cx="7499880" cy="56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2800" strike="noStrike" u="none">
                <a:solidFill>
                  <a:schemeClr val="dk1"/>
                </a:solidFill>
                <a:uFillTx/>
                <a:latin typeface="Calibri"/>
              </a:rPr>
              <a:t>Implementation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85800" y="1446480"/>
            <a:ext cx="7499880" cy="403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21 “Academic Interest” categories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6 questions per “Academic Interest”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Targeting different RIASEC traits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trike="noStrike" u="none">
                <a:solidFill>
                  <a:schemeClr val="dk1"/>
                </a:solidFill>
                <a:uFillTx/>
                <a:latin typeface="Calibri"/>
              </a:rPr>
              <a:t>Quiz: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53" name=""/>
          <p:cNvGraphicFramePr/>
          <p:nvPr/>
        </p:nvGraphicFramePr>
        <p:xfrm>
          <a:off x="6399720" y="1627560"/>
          <a:ext cx="2371320" cy="2552400"/>
        </p:xfrm>
        <a:graphic>
          <a:graphicData uri="http://schemas.openxmlformats.org/drawingml/2006/table">
            <a:tbl>
              <a:tblPr/>
              <a:tblGrid>
                <a:gridCol w="2371680"/>
              </a:tblGrid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</a:rPr>
                        <a:t>Academic Interests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</a:rPr>
                        <a:t>Agriculture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</a:rPr>
                        <a:t>...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</a:rPr>
                        <a:t>Computers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</a:rPr>
                        <a:t>Healthcare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</a:rPr>
                        <a:t>...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</a:rPr>
                        <a:t>Welfare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600480" y="3657600"/>
            <a:ext cx="4428360" cy="1402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Text Placeholder 1"/>
          <p:cNvSpPr/>
          <p:nvPr/>
        </p:nvSpPr>
        <p:spPr>
          <a:xfrm>
            <a:off x="685800" y="5333040"/>
            <a:ext cx="7499880" cy="403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“</a:t>
            </a:r>
            <a:r>
              <a:rPr b="1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Investigative” </a:t>
            </a: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RIASEC Quality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“</a:t>
            </a:r>
            <a:r>
              <a:rPr b="1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Computers” </a:t>
            </a: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Academic Interest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CEB7CC7-88D3-4492-8FA2-1261BBDBDDFA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28720" y="360000"/>
            <a:ext cx="7499880" cy="56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2800" strike="noStrike" u="none">
                <a:solidFill>
                  <a:schemeClr val="dk1"/>
                </a:solidFill>
                <a:uFillTx/>
                <a:latin typeface="Calibri"/>
              </a:rPr>
              <a:t>Implementation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828720" y="914400"/>
            <a:ext cx="7499880" cy="2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" name="Text Placeholder 9"/>
          <p:cNvSpPr/>
          <p:nvPr/>
        </p:nvSpPr>
        <p:spPr>
          <a:xfrm>
            <a:off x="729000" y="1828800"/>
            <a:ext cx="7499880" cy="403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Every user is a </a:t>
            </a:r>
            <a:r>
              <a:rPr b="1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2</a:t>
            </a:r>
            <a:r>
              <a:rPr b="1" lang="en-US" sz="22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8</a:t>
            </a:r>
            <a:r>
              <a:rPr b="1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-dimensional vector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Values normalized between 0.0 and 1.0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59" name="" descr=""/>
          <p:cNvPicPr/>
          <p:nvPr/>
        </p:nvPicPr>
        <p:blipFill>
          <a:blip r:embed="rId1"/>
          <a:stretch/>
        </p:blipFill>
        <p:spPr>
          <a:xfrm>
            <a:off x="457200" y="2971800"/>
            <a:ext cx="8000640" cy="334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34C4FE7-3512-484D-ACEF-890BF692F753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28720" y="360000"/>
            <a:ext cx="7499880" cy="56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2800" strike="noStrike" u="none">
                <a:solidFill>
                  <a:schemeClr val="dk1"/>
                </a:solidFill>
                <a:uFillTx/>
                <a:latin typeface="Calibri"/>
              </a:rPr>
              <a:t>Implementation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828720" y="1446480"/>
            <a:ext cx="7499880" cy="403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  <a:ea typeface="Noto Sans CJK SC"/>
              </a:rPr>
              <a:t>Every college course is also a </a:t>
            </a:r>
            <a:r>
              <a:rPr b="1" lang="en-US" sz="2400" strike="noStrike" u="none">
                <a:solidFill>
                  <a:schemeClr val="dk1"/>
                </a:solidFill>
                <a:uFillTx/>
                <a:latin typeface="Calibri"/>
                <a:ea typeface="Noto Sans CJK SC"/>
              </a:rPr>
              <a:t>2</a:t>
            </a:r>
            <a:r>
              <a:rPr b="1" lang="en-US" sz="2200" strike="noStrike" u="none">
                <a:solidFill>
                  <a:schemeClr val="dk1"/>
                </a:solidFill>
                <a:uFillTx/>
                <a:latin typeface="Calibri"/>
                <a:ea typeface="Noto Sans CJK SC"/>
              </a:rPr>
              <a:t>8</a:t>
            </a:r>
            <a:r>
              <a:rPr b="1" lang="en-US" sz="2400" strike="noStrike" u="none">
                <a:solidFill>
                  <a:schemeClr val="dk1"/>
                </a:solidFill>
                <a:uFillTx/>
                <a:latin typeface="Calibri"/>
                <a:ea typeface="Noto Sans CJK SC"/>
              </a:rPr>
              <a:t>-dimensional vector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62" name="" descr=""/>
          <p:cNvPicPr/>
          <p:nvPr/>
        </p:nvPicPr>
        <p:blipFill>
          <a:blip r:embed="rId1"/>
          <a:stretch/>
        </p:blipFill>
        <p:spPr>
          <a:xfrm>
            <a:off x="457200" y="1892520"/>
            <a:ext cx="4215960" cy="336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" name="" descr=""/>
          <p:cNvPicPr/>
          <p:nvPr/>
        </p:nvPicPr>
        <p:blipFill>
          <a:blip r:embed="rId2"/>
          <a:stretch/>
        </p:blipFill>
        <p:spPr>
          <a:xfrm>
            <a:off x="2286360" y="3882600"/>
            <a:ext cx="6628680" cy="240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C578433-AD0E-4CA9-8E49-1B9A92EF472C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28720" y="360000"/>
            <a:ext cx="7499880" cy="56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2800" strike="noStrike" u="none">
                <a:solidFill>
                  <a:schemeClr val="dk1"/>
                </a:solidFill>
                <a:uFillTx/>
                <a:latin typeface="Calibri"/>
              </a:rPr>
              <a:t>Implementation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65" name="" descr=""/>
          <p:cNvPicPr/>
          <p:nvPr/>
        </p:nvPicPr>
        <p:blipFill>
          <a:blip r:embed="rId1"/>
          <a:srcRect l="0" t="0" r="35988" b="0"/>
          <a:stretch/>
        </p:blipFill>
        <p:spPr>
          <a:xfrm>
            <a:off x="4800600" y="1600200"/>
            <a:ext cx="4114080" cy="161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828720" y="914400"/>
            <a:ext cx="7499880" cy="2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" name="Text Placeholder 8"/>
          <p:cNvSpPr/>
          <p:nvPr/>
        </p:nvSpPr>
        <p:spPr>
          <a:xfrm>
            <a:off x="729000" y="3200400"/>
            <a:ext cx="7499880" cy="403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similarityScore = cosineSimilarity(user, collegeCourse)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68" name="" descr=""/>
          <p:cNvPicPr/>
          <p:nvPr/>
        </p:nvPicPr>
        <p:blipFill>
          <a:blip r:embed="rId2"/>
          <a:stretch/>
        </p:blipFill>
        <p:spPr>
          <a:xfrm>
            <a:off x="228600" y="1893600"/>
            <a:ext cx="4571280" cy="1077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" name="" descr=""/>
          <p:cNvPicPr/>
          <p:nvPr/>
        </p:nvPicPr>
        <p:blipFill>
          <a:blip r:embed="rId3"/>
          <a:stretch/>
        </p:blipFill>
        <p:spPr>
          <a:xfrm>
            <a:off x="2971080" y="3657600"/>
            <a:ext cx="3429000" cy="221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Text Placeholder 11"/>
          <p:cNvSpPr/>
          <p:nvPr/>
        </p:nvSpPr>
        <p:spPr>
          <a:xfrm>
            <a:off x="729360" y="5715000"/>
            <a:ext cx="7499880" cy="403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" name="Text Placeholder 6"/>
          <p:cNvSpPr/>
          <p:nvPr/>
        </p:nvSpPr>
        <p:spPr>
          <a:xfrm>
            <a:off x="685800" y="5790600"/>
            <a:ext cx="7499880" cy="403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Return </a:t>
            </a:r>
            <a:r>
              <a:rPr b="1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20 </a:t>
            </a: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college courses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4654B4D-36C1-4F73-8B21-8B229F627624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828720" y="360000"/>
            <a:ext cx="7499880" cy="56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2800" strike="noStrike" u="none">
                <a:solidFill>
                  <a:schemeClr val="dk1"/>
                </a:solidFill>
                <a:uFillTx/>
                <a:latin typeface="Calibri"/>
              </a:rPr>
              <a:t>Implementation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828720" y="914400"/>
            <a:ext cx="7499880" cy="2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" name="Text Placeholder 5"/>
          <p:cNvSpPr/>
          <p:nvPr/>
        </p:nvSpPr>
        <p:spPr>
          <a:xfrm>
            <a:off x="729360" y="5715000"/>
            <a:ext cx="7499880" cy="403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" name="Text Placeholder 4"/>
          <p:cNvSpPr/>
          <p:nvPr/>
        </p:nvSpPr>
        <p:spPr>
          <a:xfrm>
            <a:off x="729720" y="1675800"/>
            <a:ext cx="7499880" cy="403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Giving 20 “computer science” courses isn’t exactly helpful…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Courses with identical names are not recommended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864000" indent="-216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e.g. you won’t get recommended 2 “Computer Science” courses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Courses are recommended across the user’s top 5-scored categories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864000" indent="-216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Keeps diversity across different areas of study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Diversity </a:t>
            </a: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leads to more </a:t>
            </a:r>
            <a:r>
              <a:rPr b="1" lang="en-US" sz="24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exploration – revisit RQ!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2DC9DBA-3683-4A36-9743-9B1C72E20914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828720" y="360000"/>
            <a:ext cx="7499880" cy="56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2800" strike="noStrike" u="none">
                <a:solidFill>
                  <a:schemeClr val="dk1"/>
                </a:solidFill>
                <a:uFillTx/>
                <a:latin typeface="Calibri"/>
              </a:rPr>
              <a:t>Experiment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828720" y="914400"/>
            <a:ext cx="7499880" cy="2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" name="Text Placeholder 2"/>
          <p:cNvSpPr/>
          <p:nvPr/>
        </p:nvSpPr>
        <p:spPr>
          <a:xfrm>
            <a:off x="729000" y="1675440"/>
            <a:ext cx="7499880" cy="403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Participants aged 18-24 who applied to college through the CAO system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648000" indent="-216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Participants were sought opportunistically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648000" indent="-216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Ethics approved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N = 31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Participants got 2 recommendation sets: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864000" indent="-216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Actual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864000" indent="-216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Baseline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1296000" indent="-216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Top courses sorted by </a:t>
            </a:r>
            <a:r>
              <a:rPr b="1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LC points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Participants provided their original college application list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9E6C935-A410-4BBB-862F-2ADD66D3C7C0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828720" y="360000"/>
            <a:ext cx="7499880" cy="56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2800" strike="noStrike" u="none">
                <a:solidFill>
                  <a:schemeClr val="dk1"/>
                </a:solidFill>
                <a:uFillTx/>
                <a:latin typeface="Calibri"/>
              </a:rPr>
              <a:t>Demo of Project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828720" y="1881000"/>
            <a:ext cx="7499880" cy="403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/>
          </p:nvPr>
        </p:nvSpPr>
        <p:spPr>
          <a:xfrm>
            <a:off x="828720" y="914400"/>
            <a:ext cx="7499880" cy="2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5C264DB-B7FD-4111-98E8-C7F3B017EA67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28720" y="360000"/>
            <a:ext cx="7499880" cy="56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2800" strike="noStrike" u="none">
                <a:solidFill>
                  <a:schemeClr val="dk1"/>
                </a:solidFill>
                <a:uFillTx/>
                <a:latin typeface="Calibri"/>
              </a:rPr>
              <a:t>Evaluation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828720" y="4875840"/>
            <a:ext cx="7499880" cy="403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 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84" name="" descr=""/>
          <p:cNvPicPr/>
          <p:nvPr/>
        </p:nvPicPr>
        <p:blipFill>
          <a:blip r:embed="rId1"/>
          <a:stretch/>
        </p:blipFill>
        <p:spPr>
          <a:xfrm>
            <a:off x="228600" y="1828800"/>
            <a:ext cx="3885840" cy="3885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" name="" descr=""/>
          <p:cNvPicPr/>
          <p:nvPr/>
        </p:nvPicPr>
        <p:blipFill>
          <a:blip r:embed="rId2"/>
          <a:stretch/>
        </p:blipFill>
        <p:spPr>
          <a:xfrm>
            <a:off x="4359600" y="1936800"/>
            <a:ext cx="4737600" cy="1606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6" name="" descr=""/>
          <p:cNvPicPr/>
          <p:nvPr/>
        </p:nvPicPr>
        <p:blipFill>
          <a:blip r:embed="rId3"/>
          <a:stretch/>
        </p:blipFill>
        <p:spPr>
          <a:xfrm>
            <a:off x="4343400" y="3707280"/>
            <a:ext cx="4571640" cy="155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FD9484E-7C68-49B7-A50A-9935391A99BA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828720" y="360000"/>
            <a:ext cx="7499880" cy="56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2800" strike="noStrike" u="none">
                <a:solidFill>
                  <a:schemeClr val="dk1"/>
                </a:solidFill>
                <a:uFillTx/>
                <a:latin typeface="Calibri"/>
              </a:rPr>
              <a:t>Evaluation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828720" y="4875840"/>
            <a:ext cx="7499880" cy="403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GB" sz="2400" strike="noStrike" u="none">
                <a:solidFill>
                  <a:schemeClr val="dk1"/>
                </a:solidFill>
                <a:uFillTx/>
                <a:latin typeface="Calibri"/>
              </a:rPr>
              <a:t> 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89" name="" descr=""/>
          <p:cNvPicPr/>
          <p:nvPr/>
        </p:nvPicPr>
        <p:blipFill>
          <a:blip r:embed="rId1"/>
          <a:stretch/>
        </p:blipFill>
        <p:spPr>
          <a:xfrm>
            <a:off x="1143000" y="1600200"/>
            <a:ext cx="6401160" cy="4800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9C002C5-FA4B-47BD-9233-E53F2BE63F0B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" descr=""/>
          <p:cNvPicPr/>
          <p:nvPr/>
        </p:nvPicPr>
        <p:blipFill>
          <a:blip r:embed="rId1"/>
          <a:stretch/>
        </p:blipFill>
        <p:spPr>
          <a:xfrm>
            <a:off x="1360080" y="1068480"/>
            <a:ext cx="6191640" cy="359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28720" y="360000"/>
            <a:ext cx="7499880" cy="56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2800" strike="noStrike" u="none">
                <a:solidFill>
                  <a:schemeClr val="dk1"/>
                </a:solidFill>
                <a:uFillTx/>
                <a:latin typeface="Calibri"/>
              </a:rPr>
              <a:t>Evaluation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" name="Text Placeholder 3"/>
          <p:cNvSpPr/>
          <p:nvPr/>
        </p:nvSpPr>
        <p:spPr>
          <a:xfrm>
            <a:off x="500760" y="4647240"/>
            <a:ext cx="7499880" cy="403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Diversity </a:t>
            </a: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= </a:t>
            </a:r>
            <a:r>
              <a:rPr b="1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insignificant </a:t>
            </a: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differences between actual and baseline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Novelty </a:t>
            </a: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= </a:t>
            </a:r>
            <a:r>
              <a:rPr b="1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significant </a:t>
            </a: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improvement of baseline compared to actual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Everything else </a:t>
            </a: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= </a:t>
            </a:r>
            <a:r>
              <a:rPr b="1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significant </a:t>
            </a: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  <a:ea typeface="DejaVu Sans"/>
              </a:rPr>
              <a:t>improvements of actual compared to baseline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C16E444-EEB4-420A-BC6F-13161447633F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828720" y="360000"/>
            <a:ext cx="7499880" cy="56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2800" strike="noStrike" u="none">
                <a:solidFill>
                  <a:schemeClr val="dk1"/>
                </a:solidFill>
                <a:uFillTx/>
                <a:latin typeface="Calibri"/>
              </a:rPr>
              <a:t>Conclusions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828720" y="1881000"/>
            <a:ext cx="7499880" cy="403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Research question: </a:t>
            </a:r>
            <a:r>
              <a:rPr b="0" i="1" lang="en-US" sz="2400" strike="noStrike" u="none">
                <a:solidFill>
                  <a:schemeClr val="dk1"/>
                </a:solidFill>
                <a:uFillTx/>
                <a:latin typeface="Calibri"/>
              </a:rPr>
              <a:t>“How can a Recommender System assist an Irish student in their college course decision-making process”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en-US" sz="2400" strike="noStrike" u="none">
                <a:solidFill>
                  <a:schemeClr val="dk1"/>
                </a:solidFill>
                <a:uFillTx/>
                <a:latin typeface="Calibri"/>
              </a:rPr>
              <a:t>By recommending college courses that: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i="1" lang="en-US" sz="2400" strike="noStrike" u="none">
                <a:solidFill>
                  <a:schemeClr val="dk1"/>
                </a:solidFill>
                <a:uFillTx/>
                <a:latin typeface="Calibri"/>
              </a:rPr>
              <a:t>Are relevant to their preferences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en-US" sz="2400" strike="noStrike" u="none">
                <a:solidFill>
                  <a:schemeClr val="dk1"/>
                </a:solidFill>
                <a:uFillTx/>
                <a:latin typeface="Calibri"/>
              </a:rPr>
              <a:t>They would not have seen otherwise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</a:pPr>
            <a:r>
              <a:rPr b="1" i="1" lang="en-US" sz="2400" strike="noStrike" u="none">
                <a:solidFill>
                  <a:schemeClr val="dk1"/>
                </a:solidFill>
                <a:uFillTx/>
                <a:latin typeface="Calibri"/>
              </a:rPr>
              <a:t>Future work: 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en-US" sz="2400" strike="noStrike" u="none">
                <a:solidFill>
                  <a:schemeClr val="dk1"/>
                </a:solidFill>
                <a:uFillTx/>
                <a:latin typeface="Calibri"/>
              </a:rPr>
              <a:t>“</a:t>
            </a:r>
            <a:r>
              <a:rPr b="0" i="1" lang="en-US" sz="2400" strike="noStrike" u="none">
                <a:solidFill>
                  <a:schemeClr val="dk1"/>
                </a:solidFill>
                <a:uFillTx/>
                <a:latin typeface="Calibri"/>
              </a:rPr>
              <a:t>Academic Interests” were too broad, e.g. Economics being classed under social science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en-US" sz="2400" strike="noStrike" u="none">
                <a:solidFill>
                  <a:schemeClr val="dk1"/>
                </a:solidFill>
                <a:uFillTx/>
                <a:latin typeface="Calibri"/>
              </a:rPr>
              <a:t>Subject &amp; Grade requirements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828720" y="914400"/>
            <a:ext cx="7499880" cy="27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50C28BB-FCB2-42B2-8BBA-370FDF95CDDF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28720" y="3131640"/>
            <a:ext cx="7499880" cy="64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5400" strike="noStrike" u="none">
                <a:solidFill>
                  <a:schemeClr val="lt1"/>
                </a:solidFill>
                <a:uFillTx/>
                <a:latin typeface="Calibri"/>
              </a:rPr>
              <a:t>Questions ?</a:t>
            </a:r>
            <a:endParaRPr b="0" lang="en-US" sz="5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828720" y="3715200"/>
            <a:ext cx="74998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GB" sz="4200" strike="noStrike" u="none">
                <a:solidFill>
                  <a:schemeClr val="lt1"/>
                </a:solidFill>
                <a:uFillTx/>
                <a:latin typeface="Calibri"/>
              </a:rPr>
              <a:t>Thank You</a:t>
            </a:r>
            <a:endParaRPr b="0" lang="en-US" sz="4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rinity_PPT_Calibri_Option1">
  <a:themeElements>
    <a:clrScheme name="Trinity College">
      <a:dk1>
        <a:srgbClr val="000000"/>
      </a:dk1>
      <a:lt1>
        <a:srgbClr val="ffffff"/>
      </a:lt1>
      <a:dk2>
        <a:srgbClr val="3e6db2"/>
      </a:dk2>
      <a:lt2>
        <a:srgbClr val="ffffff"/>
      </a:lt2>
      <a:accent1>
        <a:srgbClr val="4f81bd"/>
      </a:accent1>
      <a:accent2>
        <a:srgbClr val="0e73b9"/>
      </a:accent2>
      <a:accent3>
        <a:srgbClr val="7c7c7c"/>
      </a:accent3>
      <a:accent4>
        <a:srgbClr val="a6a6a6"/>
      </a:accent4>
      <a:accent5>
        <a:srgbClr val="4f81bd"/>
      </a:accent5>
      <a:accent6>
        <a:srgbClr val="3e6db2"/>
      </a:accent6>
      <a:hlink>
        <a:srgbClr val="000000"/>
      </a:hlink>
      <a:folHlink>
        <a:srgbClr val="00000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rinity_PPT_Calibri_Option1">
  <a:themeElements>
    <a:clrScheme name="Trinity College">
      <a:dk1>
        <a:srgbClr val="000000"/>
      </a:dk1>
      <a:lt1>
        <a:srgbClr val="ffffff"/>
      </a:lt1>
      <a:dk2>
        <a:srgbClr val="3e6db2"/>
      </a:dk2>
      <a:lt2>
        <a:srgbClr val="ffffff"/>
      </a:lt2>
      <a:accent1>
        <a:srgbClr val="4f81bd"/>
      </a:accent1>
      <a:accent2>
        <a:srgbClr val="0e73b9"/>
      </a:accent2>
      <a:accent3>
        <a:srgbClr val="7c7c7c"/>
      </a:accent3>
      <a:accent4>
        <a:srgbClr val="a6a6a6"/>
      </a:accent4>
      <a:accent5>
        <a:srgbClr val="4f81bd"/>
      </a:accent5>
      <a:accent6>
        <a:srgbClr val="3e6db2"/>
      </a:accent6>
      <a:hlink>
        <a:srgbClr val="000000"/>
      </a:hlink>
      <a:folHlink>
        <a:srgbClr val="00000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Trinity_PPT_Calibri_Option1">
  <a:themeElements>
    <a:clrScheme name="Trinity College">
      <a:dk1>
        <a:srgbClr val="000000"/>
      </a:dk1>
      <a:lt1>
        <a:srgbClr val="ffffff"/>
      </a:lt1>
      <a:dk2>
        <a:srgbClr val="3e6db2"/>
      </a:dk2>
      <a:lt2>
        <a:srgbClr val="ffffff"/>
      </a:lt2>
      <a:accent1>
        <a:srgbClr val="4f81bd"/>
      </a:accent1>
      <a:accent2>
        <a:srgbClr val="0e73b9"/>
      </a:accent2>
      <a:accent3>
        <a:srgbClr val="7c7c7c"/>
      </a:accent3>
      <a:accent4>
        <a:srgbClr val="a6a6a6"/>
      </a:accent4>
      <a:accent5>
        <a:srgbClr val="4f81bd"/>
      </a:accent5>
      <a:accent6>
        <a:srgbClr val="3e6db2"/>
      </a:accent6>
      <a:hlink>
        <a:srgbClr val="000000"/>
      </a:hlink>
      <a:folHlink>
        <a:srgbClr val="00000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Trinity_PPT_Calibri_Option1">
  <a:themeElements>
    <a:clrScheme name="Trinity College">
      <a:dk1>
        <a:srgbClr val="000000"/>
      </a:dk1>
      <a:lt1>
        <a:srgbClr val="ffffff"/>
      </a:lt1>
      <a:dk2>
        <a:srgbClr val="3e6db2"/>
      </a:dk2>
      <a:lt2>
        <a:srgbClr val="ffffff"/>
      </a:lt2>
      <a:accent1>
        <a:srgbClr val="4f81bd"/>
      </a:accent1>
      <a:accent2>
        <a:srgbClr val="0e73b9"/>
      </a:accent2>
      <a:accent3>
        <a:srgbClr val="7c7c7c"/>
      </a:accent3>
      <a:accent4>
        <a:srgbClr val="a6a6a6"/>
      </a:accent4>
      <a:accent5>
        <a:srgbClr val="4f81bd"/>
      </a:accent5>
      <a:accent6>
        <a:srgbClr val="3e6db2"/>
      </a:accent6>
      <a:hlink>
        <a:srgbClr val="000000"/>
      </a:hlink>
      <a:folHlink>
        <a:srgbClr val="00000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Trinity_PPT_Calibri_Option1">
  <a:themeElements>
    <a:clrScheme name="Trinity College">
      <a:dk1>
        <a:srgbClr val="000000"/>
      </a:dk1>
      <a:lt1>
        <a:srgbClr val="ffffff"/>
      </a:lt1>
      <a:dk2>
        <a:srgbClr val="3e6db2"/>
      </a:dk2>
      <a:lt2>
        <a:srgbClr val="ffffff"/>
      </a:lt2>
      <a:accent1>
        <a:srgbClr val="4f81bd"/>
      </a:accent1>
      <a:accent2>
        <a:srgbClr val="0e73b9"/>
      </a:accent2>
      <a:accent3>
        <a:srgbClr val="7c7c7c"/>
      </a:accent3>
      <a:accent4>
        <a:srgbClr val="a6a6a6"/>
      </a:accent4>
      <a:accent5>
        <a:srgbClr val="4f81bd"/>
      </a:accent5>
      <a:accent6>
        <a:srgbClr val="3e6db2"/>
      </a:accent6>
      <a:hlink>
        <a:srgbClr val="000000"/>
      </a:hlink>
      <a:folHlink>
        <a:srgbClr val="00000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Trinity_PPT_Calibri_Option1</Template>
  <TotalTime>77</TotalTime>
  <Application>LibreOffice/24.8.4.2$Linux_X86_64 LibreOffice_project/bb3cfa12c7b1bf994ecc5649a80400d06cd71002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2015-04-21T16:55:16Z</dcterms:created>
  <dc:creator>Administrator</dc:creator>
  <dc:description/>
  <dc:language>en-US</dc:language>
  <cp:lastModifiedBy/>
  <cp:lastPrinted>2014-12-16T10:33:11Z</cp:lastPrinted>
  <dcterms:modified xsi:type="dcterms:W3CDTF">2026-03-17T17:13:06Z</dcterms:modified>
  <cp:revision>18</cp:revision>
  <dc:subject/>
  <dc:title>Title — Calibri Bold 26pt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</vt:r8>
  </property>
  <property fmtid="{D5CDD505-2E9C-101B-9397-08002B2CF9AE}" pid="3" name="PresentationFormat">
    <vt:lpwstr>On-screen Show (4:3)</vt:lpwstr>
  </property>
  <property fmtid="{D5CDD505-2E9C-101B-9397-08002B2CF9AE}" pid="4" name="Slides">
    <vt:r8>13</vt:r8>
  </property>
</Properties>
</file>